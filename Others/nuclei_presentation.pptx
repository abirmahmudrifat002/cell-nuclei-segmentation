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67" r:id="rId4"/>
    <p:sldId id="259" r:id="rId5"/>
    <p:sldId id="265" r:id="rId6"/>
    <p:sldId id="261" r:id="rId7"/>
    <p:sldId id="268" r:id="rId8"/>
    <p:sldId id="263" r:id="rId9"/>
    <p:sldId id="29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4F8"/>
    <a:srgbClr val="0A9396"/>
    <a:srgbClr val="0A7EA4"/>
    <a:srgbClr val="E9C46A"/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IoU Score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79-4499-AD63-8BEFABCBF2A3}"/>
              </c:ext>
            </c:extLst>
          </c:dPt>
          <c:dPt>
            <c:idx val="1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79-4499-AD63-8BEFABCBF2A3}"/>
              </c:ext>
            </c:extLst>
          </c:dPt>
          <c:dPt>
            <c:idx val="2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79-4499-AD63-8BEFABCBF2A3}"/>
              </c:ext>
            </c:extLst>
          </c:dPt>
          <c:dPt>
            <c:idx val="3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79-4499-AD63-8BEFABCBF2A3}"/>
              </c:ext>
            </c:extLst>
          </c:dPt>
          <c:dPt>
            <c:idx val="4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79-4499-AD63-8BEFABCBF2A3}"/>
              </c:ext>
            </c:extLst>
          </c:dPt>
          <c:dPt>
            <c:idx val="5"/>
            <c:invertIfNegative val="0"/>
            <c:bubble3D val="0"/>
            <c:spPr>
              <a:solidFill>
                <a:srgbClr val="E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B79-4499-AD63-8BEFABCBF2A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B79-4499-AD63-8BEFABCBF2A3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2B79-4499-AD63-8BEFABCBF2A3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2B79-4499-AD63-8BEFABCBF2A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2B79-4499-AD63-8BEFABCBF2A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Img 01</c:v>
                </c:pt>
                <c:pt idx="1">
                  <c:v>Img 02</c:v>
                </c:pt>
                <c:pt idx="2">
                  <c:v>Img 03</c:v>
                </c:pt>
                <c:pt idx="3">
                  <c:v>Img 04</c:v>
                </c:pt>
                <c:pt idx="4">
                  <c:v>Img 05</c:v>
                </c:pt>
                <c:pt idx="5">
                  <c:v>Img 06</c:v>
                </c:pt>
                <c:pt idx="6">
                  <c:v>Img 07</c:v>
                </c:pt>
                <c:pt idx="7">
                  <c:v>Img 08</c:v>
                </c:pt>
                <c:pt idx="8">
                  <c:v>Img 09</c:v>
                </c:pt>
                <c:pt idx="9">
                  <c:v>Img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0.83320000000000005</c:v>
                </c:pt>
                <c:pt idx="1">
                  <c:v>0.56069999999999998</c:v>
                </c:pt>
                <c:pt idx="2">
                  <c:v>0.63729999999999998</c:v>
                </c:pt>
                <c:pt idx="3">
                  <c:v>0.63729999999999998</c:v>
                </c:pt>
                <c:pt idx="4">
                  <c:v>0.64419999999999999</c:v>
                </c:pt>
                <c:pt idx="5">
                  <c:v>0.65990000000000004</c:v>
                </c:pt>
                <c:pt idx="6">
                  <c:v>0.84509999999999996</c:v>
                </c:pt>
                <c:pt idx="7">
                  <c:v>0.86129999999999995</c:v>
                </c:pt>
                <c:pt idx="8">
                  <c:v>0.84509999999999996</c:v>
                </c:pt>
                <c:pt idx="9">
                  <c:v>0.85719999999999996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B79-4499-AD63-8BEFABCBF2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710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5723-B656-5DC2-8016-35C78E36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1A78A-84F3-4716-C601-BF253F821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3AC23-9D91-5BFE-BE13-A46A44905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C137B-CAF6-1742-09D5-C1563925B1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01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8F247-65DA-B390-0885-AF875159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1F635-23DA-3CDC-A418-120F2A637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5516C-4694-492C-4BE8-C7FA1CC08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9DE21-938A-8626-5AF5-8B035DD813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93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30A20-6AA3-C366-F02E-234B2241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F01FB5-84E8-891F-29A7-B4BD8F68B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956BA-8DC3-CF3C-E1E2-2598ED9C4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86056-6915-E34A-F1DA-1CAA146B6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76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>
          <a:extLst>
            <a:ext uri="{FF2B5EF4-FFF2-40B4-BE49-F238E27FC236}">
              <a16:creationId xmlns:a16="http://schemas.microsoft.com/office/drawing/2014/main" id="{4231D6F7-6962-3075-891B-2DC714F0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0:notes">
            <a:extLst>
              <a:ext uri="{FF2B5EF4-FFF2-40B4-BE49-F238E27FC236}">
                <a16:creationId xmlns:a16="http://schemas.microsoft.com/office/drawing/2014/main" id="{5F57FD1B-DB7F-6695-B7EA-398F78FD26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0:notes">
            <a:extLst>
              <a:ext uri="{FF2B5EF4-FFF2-40B4-BE49-F238E27FC236}">
                <a16:creationId xmlns:a16="http://schemas.microsoft.com/office/drawing/2014/main" id="{22E064F2-1930-D7A3-3AC9-AE5B4F05B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3992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829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109728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232469" y="2141982"/>
            <a:ext cx="430154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Nuclei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6665" y="3159252"/>
            <a:ext cx="33832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Whole Slide Images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3838194"/>
            <a:ext cx="2286000" cy="365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665" y="3946955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 |  Section 6  |  Group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6665" y="429082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M. Shifat-E-Rabbi (MSRb)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3200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713232"/>
            <a:ext cx="2560320" cy="27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914400"/>
            <a:ext cx="46817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914400"/>
            <a:ext cx="91440" cy="5486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950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Sahinul Islam Rizve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2232504042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1572768"/>
            <a:ext cx="46817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1572768"/>
            <a:ext cx="91440" cy="5486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1609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Safayet Hossain Alif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1847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2232562642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60520" y="2231136"/>
            <a:ext cx="46817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2231136"/>
            <a:ext cx="91440" cy="5486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322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Abir Mahmood Rifat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25054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2132677642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60520" y="2889504"/>
            <a:ext cx="46817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2889504"/>
            <a:ext cx="91440" cy="5486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Muammer Faisal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43400" y="31638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1410384042</a:t>
            </a:r>
            <a:endParaRPr lang="en-US" sz="1000" dirty="0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8A80F1D6-6ACC-7B7D-A148-1E065FA69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004"/>
          <a:stretch>
            <a:fillRect/>
          </a:stretch>
        </p:blipFill>
        <p:spPr>
          <a:xfrm>
            <a:off x="806958" y="4572"/>
            <a:ext cx="2226564" cy="2137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 Nucleus Segmentation?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= Slow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Pathologists spend hours annotating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nuclei per WSI image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17627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Inter-observer variability reduces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in clinical studies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7220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17627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genomics demands analysis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population scale — impractical manually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859536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3192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Train U-Net on 10 heterogeneous WSI images → Automate with deep learning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|  Abir Mahmood Rifat  •  Mohammad Safayet Hossain Alif  •  Md. Sahinul Islam Rizve  •  Md. Muammer Faisal</a:t>
            </a:r>
            <a:endParaRPr lang="en-US" sz="800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A456EB45-AB00-7A0F-C762-1DD80F07E540}"/>
              </a:ext>
            </a:extLst>
          </p:cNvPr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0A9396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5F6F4-1108-9CEF-A2DD-7E67362C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FE5D64-FCD8-2369-ACAA-FD716ABB477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5990BD-BE11-5016-4130-1D273D105250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Augmentation Strategy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AB9E216-6C2B-E988-3162-ABF961F70D17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C94CC85-543B-5202-23F2-BD3FA0ED4B26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|  Abir Mahmood Rifat  •  Mohammad Safayet Hossain Alif  •  Md. Sahinul Islam Rizve  •  Md. Muammer Faisal</a:t>
            </a:r>
            <a:endParaRPr lang="en-US" sz="8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E70D308C-5632-F147-62A3-6BEF7C248BF7}"/>
              </a:ext>
            </a:extLst>
          </p:cNvPr>
          <p:cNvSpPr/>
          <p:nvPr/>
        </p:nvSpPr>
        <p:spPr>
          <a:xfrm>
            <a:off x="274320" y="992124"/>
            <a:ext cx="4114800" cy="3730752"/>
          </a:xfrm>
          <a:prstGeom prst="rect">
            <a:avLst/>
          </a:prstGeom>
          <a:solidFill>
            <a:srgbClr val="E8F4F8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DDE9F2AC-2DAA-B8C2-5D05-DF181CA37ED3}"/>
              </a:ext>
            </a:extLst>
          </p:cNvPr>
          <p:cNvSpPr/>
          <p:nvPr/>
        </p:nvSpPr>
        <p:spPr>
          <a:xfrm>
            <a:off x="411480" y="10561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Kaggle Data Science Bowl</a:t>
            </a:r>
            <a:endParaRPr lang="en-US" sz="1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C8A716C4-C261-39D4-1B8F-2896AD41FE76}"/>
              </a:ext>
            </a:extLst>
          </p:cNvPr>
          <p:cNvSpPr/>
          <p:nvPr/>
        </p:nvSpPr>
        <p:spPr>
          <a:xfrm>
            <a:off x="411480" y="1513332"/>
            <a:ext cx="201168" cy="2011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98A65B4F-5C54-1B28-4894-3E4B130CB9A5}"/>
              </a:ext>
            </a:extLst>
          </p:cNvPr>
          <p:cNvSpPr/>
          <p:nvPr/>
        </p:nvSpPr>
        <p:spPr>
          <a:xfrm>
            <a:off x="713232" y="14767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whole slide images selected</a:t>
            </a:r>
            <a:endParaRPr lang="en-US" sz="1150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06C86805-EF83-E2B0-52E9-A383CAE6CCF4}"/>
              </a:ext>
            </a:extLst>
          </p:cNvPr>
          <p:cNvSpPr/>
          <p:nvPr/>
        </p:nvSpPr>
        <p:spPr>
          <a:xfrm>
            <a:off x="411480" y="2007108"/>
            <a:ext cx="201168" cy="2011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886E35F9-FF42-6F8C-4D6E-50AD53A80A10}"/>
              </a:ext>
            </a:extLst>
          </p:cNvPr>
          <p:cNvSpPr/>
          <p:nvPr/>
        </p:nvSpPr>
        <p:spPr>
          <a:xfrm>
            <a:off x="713232" y="19705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backgrounds</a:t>
            </a:r>
            <a:endParaRPr lang="en-US" sz="115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5A554D07-35AE-DE5B-0364-2592BC36A9F3}"/>
              </a:ext>
            </a:extLst>
          </p:cNvPr>
          <p:cNvSpPr/>
          <p:nvPr/>
        </p:nvSpPr>
        <p:spPr>
          <a:xfrm>
            <a:off x="411480" y="2500884"/>
            <a:ext cx="201168" cy="2011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C7A7BF38-1C6B-2AE9-6DF2-7EB3F1336BFD}"/>
              </a:ext>
            </a:extLst>
          </p:cNvPr>
          <p:cNvSpPr/>
          <p:nvPr/>
        </p:nvSpPr>
        <p:spPr>
          <a:xfrm>
            <a:off x="713232" y="24643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Staining: H&amp;E, DAPI, fluorescent dyes </a:t>
            </a:r>
            <a:endParaRPr lang="en-US" sz="115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2BFEFFB1-9AF9-A07C-3E2D-B0EFDFA088D4}"/>
              </a:ext>
            </a:extLst>
          </p:cNvPr>
          <p:cNvSpPr/>
          <p:nvPr/>
        </p:nvSpPr>
        <p:spPr>
          <a:xfrm>
            <a:off x="411480" y="2994660"/>
            <a:ext cx="201168" cy="2011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E968E836-51ED-8EE9-AE69-288C8846F7B2}"/>
              </a:ext>
            </a:extLst>
          </p:cNvPr>
          <p:cNvSpPr/>
          <p:nvPr/>
        </p:nvSpPr>
        <p:spPr>
          <a:xfrm>
            <a:off x="713232" y="29580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Magnification: 20× to 40×</a:t>
            </a:r>
            <a:endParaRPr lang="en-US" sz="115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97B56441-0C17-69C2-C3F5-D8DA30ECF8BC}"/>
              </a:ext>
            </a:extLst>
          </p:cNvPr>
          <p:cNvSpPr/>
          <p:nvPr/>
        </p:nvSpPr>
        <p:spPr>
          <a:xfrm>
            <a:off x="411480" y="3488436"/>
            <a:ext cx="201168" cy="2011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072CD54-07D0-57B4-7CD1-3E10595D8D5F}"/>
              </a:ext>
            </a:extLst>
          </p:cNvPr>
          <p:cNvSpPr/>
          <p:nvPr/>
        </p:nvSpPr>
        <p:spPr>
          <a:xfrm>
            <a:off x="713232" y="34518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Per-nucleus binary mask files</a:t>
            </a:r>
            <a:endParaRPr lang="en-US" sz="115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C4A43FCB-491D-52A0-1A4D-15698AAC5A53}"/>
              </a:ext>
            </a:extLst>
          </p:cNvPr>
          <p:cNvSpPr/>
          <p:nvPr/>
        </p:nvSpPr>
        <p:spPr>
          <a:xfrm>
            <a:off x="411480" y="3982212"/>
            <a:ext cx="201168" cy="2011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3A6DFC6D-61AE-78CD-D0CB-5A599B4AB1DF}"/>
              </a:ext>
            </a:extLst>
          </p:cNvPr>
          <p:cNvSpPr/>
          <p:nvPr/>
        </p:nvSpPr>
        <p:spPr>
          <a:xfrm>
            <a:off x="713232" y="39456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merged via pixel-wise maximum</a:t>
            </a:r>
            <a:endParaRPr lang="en-US" sz="115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F9C760C6-D134-4326-D3A7-046ED78F6CE0}"/>
              </a:ext>
            </a:extLst>
          </p:cNvPr>
          <p:cNvSpPr/>
          <p:nvPr/>
        </p:nvSpPr>
        <p:spPr>
          <a:xfrm>
            <a:off x="4663440" y="992124"/>
            <a:ext cx="4206240" cy="3730752"/>
          </a:xfrm>
          <a:prstGeom prst="rect">
            <a:avLst/>
          </a:prstGeom>
          <a:solidFill>
            <a:srgbClr val="E8F4F8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6A9BFF02-01B9-1403-9E8B-59C1AD6EB56C}"/>
              </a:ext>
            </a:extLst>
          </p:cNvPr>
          <p:cNvSpPr/>
          <p:nvPr/>
        </p:nvSpPr>
        <p:spPr>
          <a:xfrm>
            <a:off x="4800600" y="10561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Pipeline</a:t>
            </a:r>
            <a:endParaRPr lang="en-US" sz="13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E6926335-9782-12AE-D477-84765EFEC5B1}"/>
              </a:ext>
            </a:extLst>
          </p:cNvPr>
          <p:cNvSpPr/>
          <p:nvPr/>
        </p:nvSpPr>
        <p:spPr>
          <a:xfrm>
            <a:off x="4800600" y="153162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12FF7BE6-A505-5A6F-2BF0-0D1DE7E488EA}"/>
              </a:ext>
            </a:extLst>
          </p:cNvPr>
          <p:cNvSpPr/>
          <p:nvPr/>
        </p:nvSpPr>
        <p:spPr>
          <a:xfrm>
            <a:off x="4956048" y="15316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</a:t>
            </a:r>
            <a:endParaRPr lang="en-US" sz="120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923FC1E4-C273-C2E7-ECD3-6D1BD6167188}"/>
              </a:ext>
            </a:extLst>
          </p:cNvPr>
          <p:cNvSpPr/>
          <p:nvPr/>
        </p:nvSpPr>
        <p:spPr>
          <a:xfrm>
            <a:off x="7498080" y="15316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</a:t>
            </a:r>
            <a:endParaRPr lang="en-US" sz="1200" dirty="0"/>
          </a:p>
        </p:txBody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F0171A49-AAF1-3CF9-C67A-F6E78C5DB93A}"/>
              </a:ext>
            </a:extLst>
          </p:cNvPr>
          <p:cNvSpPr/>
          <p:nvPr/>
        </p:nvSpPr>
        <p:spPr>
          <a:xfrm>
            <a:off x="4800600" y="2098548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D6BDC6C5-3ABF-3173-E41F-0F19DF5E11A0}"/>
              </a:ext>
            </a:extLst>
          </p:cNvPr>
          <p:cNvSpPr/>
          <p:nvPr/>
        </p:nvSpPr>
        <p:spPr>
          <a:xfrm>
            <a:off x="4956048" y="20985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Flip</a:t>
            </a:r>
            <a:endParaRPr lang="en-US" sz="12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BFBD225F-9F1A-C821-E3C9-FF3C3A05F510}"/>
              </a:ext>
            </a:extLst>
          </p:cNvPr>
          <p:cNvSpPr/>
          <p:nvPr/>
        </p:nvSpPr>
        <p:spPr>
          <a:xfrm>
            <a:off x="7498080" y="20985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</a:t>
            </a:r>
            <a:endParaRPr lang="en-US" sz="1200" dirty="0"/>
          </a:p>
        </p:txBody>
      </p:sp>
      <p:sp>
        <p:nvSpPr>
          <p:cNvPr id="50" name="Shape 26">
            <a:extLst>
              <a:ext uri="{FF2B5EF4-FFF2-40B4-BE49-F238E27FC236}">
                <a16:creationId xmlns:a16="http://schemas.microsoft.com/office/drawing/2014/main" id="{CEA94DF0-388A-FC68-6F6E-7FCA2A9FD1C4}"/>
              </a:ext>
            </a:extLst>
          </p:cNvPr>
          <p:cNvSpPr/>
          <p:nvPr/>
        </p:nvSpPr>
        <p:spPr>
          <a:xfrm>
            <a:off x="4800600" y="266547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2EDC6147-F148-3217-B08A-645BD7DF5448}"/>
              </a:ext>
            </a:extLst>
          </p:cNvPr>
          <p:cNvSpPr/>
          <p:nvPr/>
        </p:nvSpPr>
        <p:spPr>
          <a:xfrm>
            <a:off x="4956048" y="26654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90° Rotate</a:t>
            </a:r>
            <a:endParaRPr lang="en-US" sz="1200" dirty="0"/>
          </a:p>
        </p:txBody>
      </p:sp>
      <p:sp>
        <p:nvSpPr>
          <p:cNvPr id="52" name="Text 28">
            <a:extLst>
              <a:ext uri="{FF2B5EF4-FFF2-40B4-BE49-F238E27FC236}">
                <a16:creationId xmlns:a16="http://schemas.microsoft.com/office/drawing/2014/main" id="{A080169A-5802-5448-7749-6A6A0F3DF0F5}"/>
              </a:ext>
            </a:extLst>
          </p:cNvPr>
          <p:cNvSpPr/>
          <p:nvPr/>
        </p:nvSpPr>
        <p:spPr>
          <a:xfrm>
            <a:off x="7498080" y="26654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</a:t>
            </a:r>
            <a:endParaRPr lang="en-US" sz="1200" dirty="0"/>
          </a:p>
        </p:txBody>
      </p:sp>
      <p:sp>
        <p:nvSpPr>
          <p:cNvPr id="53" name="Shape 29">
            <a:extLst>
              <a:ext uri="{FF2B5EF4-FFF2-40B4-BE49-F238E27FC236}">
                <a16:creationId xmlns:a16="http://schemas.microsoft.com/office/drawing/2014/main" id="{A4E94716-3B53-3605-4782-5750E86CD3B9}"/>
              </a:ext>
            </a:extLst>
          </p:cNvPr>
          <p:cNvSpPr/>
          <p:nvPr/>
        </p:nvSpPr>
        <p:spPr>
          <a:xfrm>
            <a:off x="4800600" y="323240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5F199749-0E93-3BCA-4F29-221D292A31EF}"/>
              </a:ext>
            </a:extLst>
          </p:cNvPr>
          <p:cNvSpPr/>
          <p:nvPr/>
        </p:nvSpPr>
        <p:spPr>
          <a:xfrm>
            <a:off x="4956048" y="32324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/ Contrast</a:t>
            </a:r>
            <a:endParaRPr lang="en-US" sz="1200" dirty="0"/>
          </a:p>
        </p:txBody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86F2698B-0610-B01B-0C27-8FBB85A1DE27}"/>
              </a:ext>
            </a:extLst>
          </p:cNvPr>
          <p:cNvSpPr/>
          <p:nvPr/>
        </p:nvSpPr>
        <p:spPr>
          <a:xfrm>
            <a:off x="7498080" y="32324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</a:t>
            </a:r>
            <a:endParaRPr lang="en-US" sz="1200" dirty="0"/>
          </a:p>
        </p:txBody>
      </p:sp>
      <p:sp>
        <p:nvSpPr>
          <p:cNvPr id="56" name="Shape 32">
            <a:extLst>
              <a:ext uri="{FF2B5EF4-FFF2-40B4-BE49-F238E27FC236}">
                <a16:creationId xmlns:a16="http://schemas.microsoft.com/office/drawing/2014/main" id="{0B3BB812-4AE8-1E4D-D8C5-66570EAEF1F4}"/>
              </a:ext>
            </a:extLst>
          </p:cNvPr>
          <p:cNvSpPr/>
          <p:nvPr/>
        </p:nvSpPr>
        <p:spPr>
          <a:xfrm>
            <a:off x="4800600" y="379933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1C113B3F-ECF7-7865-E58C-1052A5602D95}"/>
              </a:ext>
            </a:extLst>
          </p:cNvPr>
          <p:cNvSpPr/>
          <p:nvPr/>
        </p:nvSpPr>
        <p:spPr>
          <a:xfrm>
            <a:off x="4956048" y="37993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200" dirty="0"/>
          </a:p>
        </p:txBody>
      </p:sp>
      <p:sp>
        <p:nvSpPr>
          <p:cNvPr id="58" name="Text 34">
            <a:extLst>
              <a:ext uri="{FF2B5EF4-FFF2-40B4-BE49-F238E27FC236}">
                <a16:creationId xmlns:a16="http://schemas.microsoft.com/office/drawing/2014/main" id="{8A2979D4-7A21-3654-BD14-AF992C997610}"/>
              </a:ext>
            </a:extLst>
          </p:cNvPr>
          <p:cNvSpPr/>
          <p:nvPr/>
        </p:nvSpPr>
        <p:spPr>
          <a:xfrm>
            <a:off x="7498080" y="37993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</a:t>
            </a:r>
            <a:endParaRPr lang="en-US" sz="1200" dirty="0"/>
          </a:p>
        </p:txBody>
      </p:sp>
      <p:sp>
        <p:nvSpPr>
          <p:cNvPr id="59" name="Shape 35">
            <a:extLst>
              <a:ext uri="{FF2B5EF4-FFF2-40B4-BE49-F238E27FC236}">
                <a16:creationId xmlns:a16="http://schemas.microsoft.com/office/drawing/2014/main" id="{BC95C639-7E22-6DB4-9F29-50D44C231644}"/>
              </a:ext>
            </a:extLst>
          </p:cNvPr>
          <p:cNvSpPr/>
          <p:nvPr/>
        </p:nvSpPr>
        <p:spPr>
          <a:xfrm>
            <a:off x="4800600" y="4366260"/>
            <a:ext cx="3931920" cy="2926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0D664FEE-F852-30B7-722C-24CF6FC832EF}"/>
              </a:ext>
            </a:extLst>
          </p:cNvPr>
          <p:cNvSpPr/>
          <p:nvPr/>
        </p:nvSpPr>
        <p:spPr>
          <a:xfrm>
            <a:off x="4800600" y="43662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images  ×4 augmentation  =  40 samples</a:t>
            </a:r>
            <a:endParaRPr lang="en-US" sz="1150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1A332A43-F628-12A5-54A6-A0730887782E}"/>
              </a:ext>
            </a:extLst>
          </p:cNvPr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0A9396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692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68215" y="1920240"/>
            <a:ext cx="1188720" cy="1005840"/>
          </a:xfrm>
          <a:prstGeom prst="rect">
            <a:avLst/>
          </a:prstGeom>
          <a:solidFill>
            <a:srgbClr val="0A93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8215" y="1920240"/>
            <a:ext cx="11887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128×128×3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31255" y="1463040"/>
            <a:ext cx="1371600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1255" y="1463040"/>
            <a:ext cx="137160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Conv×2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+MaxPool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16→32 filters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7175" y="1188720"/>
            <a:ext cx="1371600" cy="228600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7175" y="1188720"/>
            <a:ext cx="137160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23095" y="1463040"/>
            <a:ext cx="1371600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3095" y="1463040"/>
            <a:ext cx="137160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+Skip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32→16 filters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69015" y="1920240"/>
            <a:ext cx="1280160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9015" y="1920240"/>
            <a:ext cx="12801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128×128×1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56935" y="2423160"/>
            <a:ext cx="274320" cy="0"/>
          </a:xfrm>
          <a:prstGeom prst="line">
            <a:avLst/>
          </a:prstGeom>
          <a:noFill/>
          <a:ln w="31750">
            <a:solidFill>
              <a:srgbClr val="0A93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2855" y="2423160"/>
            <a:ext cx="274320" cy="0"/>
          </a:xfrm>
          <a:prstGeom prst="line">
            <a:avLst/>
          </a:prstGeom>
          <a:noFill/>
          <a:ln w="31750">
            <a:solidFill>
              <a:srgbClr val="0A93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48775" y="2423160"/>
            <a:ext cx="274320" cy="0"/>
          </a:xfrm>
          <a:prstGeom prst="line">
            <a:avLst/>
          </a:prstGeom>
          <a:noFill/>
          <a:ln w="31750">
            <a:solidFill>
              <a:srgbClr val="0A93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94695" y="2423160"/>
            <a:ext cx="274320" cy="0"/>
          </a:xfrm>
          <a:prstGeom prst="line">
            <a:avLst/>
          </a:prstGeom>
          <a:noFill/>
          <a:ln w="31750">
            <a:solidFill>
              <a:srgbClr val="0A93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77640"/>
            <a:ext cx="85953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776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+ Dice   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1×10⁻⁴)   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(EarlyStopping, patience=15)   </a:t>
            </a: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|  Abir Mahmood Rifat  •  Mohammad Safayet Hossain Alif  •  Md. Sahinul Islam Rizve  •  Md. Muammer Faisal</a:t>
            </a:r>
            <a:endParaRPr lang="en-US" sz="8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D29429FF-8B1D-EE29-9A16-0E456E92094D}"/>
              </a:ext>
            </a:extLst>
          </p:cNvPr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0A9396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03A0-4147-3448-D464-19C5F8AE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8AD875-2AEE-4AD3-0FBB-E9ACE6114206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D28F9F-E3F8-612B-6B61-87C7D78C3CAF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13-Stage Implementation Pipeline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5608626-0E2C-6D01-AC79-FA94ED5A485A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B27D2D6-E9DB-0825-5487-0534FB8CFC5A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|  Abir Mahmood Rifat  •  Mohammad Safayet Hossain Alif  •  Md. Sahinul Islam Rizve  •  Md. Muammer Faisal</a:t>
            </a:r>
            <a:endParaRPr lang="en-US" sz="8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BB51D95-E04F-568C-86FE-1EF9D73B929A}"/>
              </a:ext>
            </a:extLst>
          </p:cNvPr>
          <p:cNvSpPr/>
          <p:nvPr/>
        </p:nvSpPr>
        <p:spPr>
          <a:xfrm>
            <a:off x="291201" y="992124"/>
            <a:ext cx="4206240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8582F7F-F3FD-495B-2897-5F7DDAA4142A}"/>
              </a:ext>
            </a:extLst>
          </p:cNvPr>
          <p:cNvSpPr/>
          <p:nvPr/>
        </p:nvSpPr>
        <p:spPr>
          <a:xfrm>
            <a:off x="291201" y="992124"/>
            <a:ext cx="1005840" cy="8229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8C282B0-32AE-1A06-E2AF-AFEAE1E87EC0}"/>
              </a:ext>
            </a:extLst>
          </p:cNvPr>
          <p:cNvSpPr/>
          <p:nvPr/>
        </p:nvSpPr>
        <p:spPr>
          <a:xfrm>
            <a:off x="291201" y="99212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01–02</a:t>
            </a:r>
            <a:endParaRPr lang="en-US" sz="10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133C3CC-D3AB-F0DD-4571-1BCCCC3AE2F8}"/>
              </a:ext>
            </a:extLst>
          </p:cNvPr>
          <p:cNvSpPr/>
          <p:nvPr/>
        </p:nvSpPr>
        <p:spPr>
          <a:xfrm>
            <a:off x="1388481" y="103784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Preprocess</a:t>
            </a:r>
            <a:endParaRPr lang="en-US" sz="1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FA17C25-153E-ABBF-4E6A-C52137D74D0E}"/>
              </a:ext>
            </a:extLst>
          </p:cNvPr>
          <p:cNvSpPr/>
          <p:nvPr/>
        </p:nvSpPr>
        <p:spPr>
          <a:xfrm>
            <a:off x="1388481" y="13761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WSI images → 128×128, masks merged</a:t>
            </a:r>
            <a:endParaRPr lang="en-US" sz="10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2C071F4-9ED8-FB84-4E20-818F14A2235A}"/>
              </a:ext>
            </a:extLst>
          </p:cNvPr>
          <p:cNvSpPr/>
          <p:nvPr/>
        </p:nvSpPr>
        <p:spPr>
          <a:xfrm>
            <a:off x="291201" y="1961388"/>
            <a:ext cx="4206240" cy="822960"/>
          </a:xfrm>
          <a:prstGeom prst="rect">
            <a:avLst/>
          </a:prstGeom>
          <a:solidFill>
            <a:srgbClr val="EEF2F9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44E701D-28BC-629A-7AD8-A7EFD6C09246}"/>
              </a:ext>
            </a:extLst>
          </p:cNvPr>
          <p:cNvSpPr/>
          <p:nvPr/>
        </p:nvSpPr>
        <p:spPr>
          <a:xfrm>
            <a:off x="291201" y="1961388"/>
            <a:ext cx="100584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98576A8-B2B6-B68F-851B-54981D289E35}"/>
              </a:ext>
            </a:extLst>
          </p:cNvPr>
          <p:cNvSpPr/>
          <p:nvPr/>
        </p:nvSpPr>
        <p:spPr>
          <a:xfrm>
            <a:off x="291201" y="196138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03–04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97D45EF-E953-8E75-ADBA-B85DE744F3D5}"/>
              </a:ext>
            </a:extLst>
          </p:cNvPr>
          <p:cNvSpPr/>
          <p:nvPr/>
        </p:nvSpPr>
        <p:spPr>
          <a:xfrm>
            <a:off x="1388481" y="20071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Train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FCC38DA-76D1-8114-468C-2B27BBA0ED31}"/>
              </a:ext>
            </a:extLst>
          </p:cNvPr>
          <p:cNvSpPr/>
          <p:nvPr/>
        </p:nvSpPr>
        <p:spPr>
          <a:xfrm>
            <a:off x="1388481" y="23454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built; baseline training 30 epochs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F0121A1-DD68-2E97-49BE-98C8B1FAE554}"/>
              </a:ext>
            </a:extLst>
          </p:cNvPr>
          <p:cNvSpPr/>
          <p:nvPr/>
        </p:nvSpPr>
        <p:spPr>
          <a:xfrm>
            <a:off x="291201" y="2930652"/>
            <a:ext cx="4206240" cy="822960"/>
          </a:xfrm>
          <a:prstGeom prst="rect">
            <a:avLst/>
          </a:prstGeom>
          <a:solidFill>
            <a:srgbClr val="F3EFF9"/>
          </a:solidFill>
          <a:ln w="12700">
            <a:solidFill>
              <a:srgbClr val="5B3E96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A888B84-F6CB-DD50-FB46-56F5D2D8B30B}"/>
              </a:ext>
            </a:extLst>
          </p:cNvPr>
          <p:cNvSpPr/>
          <p:nvPr/>
        </p:nvSpPr>
        <p:spPr>
          <a:xfrm>
            <a:off x="291201" y="2930652"/>
            <a:ext cx="1005840" cy="822960"/>
          </a:xfrm>
          <a:prstGeom prst="rect">
            <a:avLst/>
          </a:prstGeom>
          <a:solidFill>
            <a:srgbClr val="5B3E96"/>
          </a:solidFill>
          <a:ln w="12700">
            <a:solidFill>
              <a:srgbClr val="5B3E96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239DFDB-9EFD-DEAE-5F68-DB24CA8F6BA0}"/>
              </a:ext>
            </a:extLst>
          </p:cNvPr>
          <p:cNvSpPr/>
          <p:nvPr/>
        </p:nvSpPr>
        <p:spPr>
          <a:xfrm>
            <a:off x="291201" y="293065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883364A-4CEB-EA6B-7056-195AE742D6C2}"/>
              </a:ext>
            </a:extLst>
          </p:cNvPr>
          <p:cNvSpPr/>
          <p:nvPr/>
        </p:nvSpPr>
        <p:spPr>
          <a:xfrm>
            <a:off x="1388481" y="29763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D8B2359-643D-AEEE-6D70-46857A976F6F}"/>
              </a:ext>
            </a:extLst>
          </p:cNvPr>
          <p:cNvSpPr/>
          <p:nvPr/>
        </p:nvSpPr>
        <p:spPr>
          <a:xfrm>
            <a:off x="1388481" y="33147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Loss/accuracy plots + sample predictions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9123A7E-ACF8-5AAE-3B3B-47FC85EB0868}"/>
              </a:ext>
            </a:extLst>
          </p:cNvPr>
          <p:cNvSpPr/>
          <p:nvPr/>
        </p:nvSpPr>
        <p:spPr>
          <a:xfrm>
            <a:off x="291201" y="3899916"/>
            <a:ext cx="4206240" cy="822960"/>
          </a:xfrm>
          <a:prstGeom prst="rect">
            <a:avLst/>
          </a:prstGeom>
          <a:solidFill>
            <a:srgbClr val="FDF0F0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DDD840A-7644-C559-7324-CA83FA3E548D}"/>
              </a:ext>
            </a:extLst>
          </p:cNvPr>
          <p:cNvSpPr/>
          <p:nvPr/>
        </p:nvSpPr>
        <p:spPr>
          <a:xfrm>
            <a:off x="291201" y="3899916"/>
            <a:ext cx="1005840" cy="8229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769D845-BE3F-0791-2E71-8D8A8D512857}"/>
              </a:ext>
            </a:extLst>
          </p:cNvPr>
          <p:cNvSpPr/>
          <p:nvPr/>
        </p:nvSpPr>
        <p:spPr>
          <a:xfrm>
            <a:off x="291201" y="389991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06–07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E1AABBB-35A4-3DC3-707B-D8538453CD08}"/>
              </a:ext>
            </a:extLst>
          </p:cNvPr>
          <p:cNvSpPr/>
          <p:nvPr/>
        </p:nvSpPr>
        <p:spPr>
          <a:xfrm>
            <a:off x="1388481" y="394563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&amp; Augment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F330DFC-106A-ECA8-643F-0F0AFB0F2741}"/>
              </a:ext>
            </a:extLst>
          </p:cNvPr>
          <p:cNvSpPr/>
          <p:nvPr/>
        </p:nvSpPr>
        <p:spPr>
          <a:xfrm>
            <a:off x="1388481" y="428396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copies per image → 40 samples total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F10409B-BCB2-B552-67A3-3B8127029772}"/>
              </a:ext>
            </a:extLst>
          </p:cNvPr>
          <p:cNvSpPr/>
          <p:nvPr/>
        </p:nvSpPr>
        <p:spPr>
          <a:xfrm>
            <a:off x="4753473" y="992124"/>
            <a:ext cx="4206240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D01DE4F-59A9-3043-81FA-EC013504A0DE}"/>
              </a:ext>
            </a:extLst>
          </p:cNvPr>
          <p:cNvSpPr/>
          <p:nvPr/>
        </p:nvSpPr>
        <p:spPr>
          <a:xfrm>
            <a:off x="4753473" y="992124"/>
            <a:ext cx="1005840" cy="8229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A10A403-67F0-56E9-732B-FDC48E771172}"/>
              </a:ext>
            </a:extLst>
          </p:cNvPr>
          <p:cNvSpPr/>
          <p:nvPr/>
        </p:nvSpPr>
        <p:spPr>
          <a:xfrm>
            <a:off x="4753473" y="99212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08–09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5536400-578D-CB07-CE38-A27272CE708F}"/>
              </a:ext>
            </a:extLst>
          </p:cNvPr>
          <p:cNvSpPr/>
          <p:nvPr/>
        </p:nvSpPr>
        <p:spPr>
          <a:xfrm>
            <a:off x="5850753" y="103784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+ IoU Eval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6677266-C082-8423-199C-7DFC19786C7C}"/>
              </a:ext>
            </a:extLst>
          </p:cNvPr>
          <p:cNvSpPr/>
          <p:nvPr/>
        </p:nvSpPr>
        <p:spPr>
          <a:xfrm>
            <a:off x="5850753" y="13761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augmented; IoU per image reported</a:t>
            </a:r>
            <a:endParaRPr lang="en-US" sz="10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ED4B2C8-B7C8-9EDC-FBC6-D7F9D1EB3110}"/>
              </a:ext>
            </a:extLst>
          </p:cNvPr>
          <p:cNvSpPr/>
          <p:nvPr/>
        </p:nvSpPr>
        <p:spPr>
          <a:xfrm>
            <a:off x="4753473" y="1961388"/>
            <a:ext cx="4206240" cy="822960"/>
          </a:xfrm>
          <a:prstGeom prst="rect">
            <a:avLst/>
          </a:prstGeom>
          <a:solidFill>
            <a:srgbClr val="EEF2F9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43E6F47-108F-AD08-36CF-6C4CE470E155}"/>
              </a:ext>
            </a:extLst>
          </p:cNvPr>
          <p:cNvSpPr/>
          <p:nvPr/>
        </p:nvSpPr>
        <p:spPr>
          <a:xfrm>
            <a:off x="4753473" y="1961388"/>
            <a:ext cx="100584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4CBE5EC-8A18-611B-977A-9927ADCE9F1E}"/>
              </a:ext>
            </a:extLst>
          </p:cNvPr>
          <p:cNvSpPr/>
          <p:nvPr/>
        </p:nvSpPr>
        <p:spPr>
          <a:xfrm>
            <a:off x="4753473" y="196138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8A5A391-6DBB-62E6-30F7-7896E87FCBA8}"/>
              </a:ext>
            </a:extLst>
          </p:cNvPr>
          <p:cNvSpPr/>
          <p:nvPr/>
        </p:nvSpPr>
        <p:spPr>
          <a:xfrm>
            <a:off x="5850753" y="20071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Model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CA9A41E-0406-0E04-9FC4-48D8B4CFDE7B}"/>
              </a:ext>
            </a:extLst>
          </p:cNvPr>
          <p:cNvSpPr/>
          <p:nvPr/>
        </p:nvSpPr>
        <p:spPr>
          <a:xfrm>
            <a:off x="5850753" y="23454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.keras; reloaded &amp; verified</a:t>
            </a:r>
            <a:endParaRPr lang="en-US" sz="1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00B7EC9-EBD8-7CF9-2552-D758B1E63AA8}"/>
              </a:ext>
            </a:extLst>
          </p:cNvPr>
          <p:cNvSpPr/>
          <p:nvPr/>
        </p:nvSpPr>
        <p:spPr>
          <a:xfrm>
            <a:off x="4753473" y="2930652"/>
            <a:ext cx="4206240" cy="822960"/>
          </a:xfrm>
          <a:prstGeom prst="rect">
            <a:avLst/>
          </a:prstGeom>
          <a:solidFill>
            <a:srgbClr val="EDF7F0"/>
          </a:solidFill>
          <a:ln w="12700">
            <a:solidFill>
              <a:srgbClr val="2A7F3F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14F8290-5F2C-4293-FC47-6AA71349F00B}"/>
              </a:ext>
            </a:extLst>
          </p:cNvPr>
          <p:cNvSpPr/>
          <p:nvPr/>
        </p:nvSpPr>
        <p:spPr>
          <a:xfrm>
            <a:off x="4753473" y="2930652"/>
            <a:ext cx="1005840" cy="822960"/>
          </a:xfrm>
          <a:prstGeom prst="rect">
            <a:avLst/>
          </a:prstGeom>
          <a:solidFill>
            <a:srgbClr val="2A7F3F"/>
          </a:solidFill>
          <a:ln w="12700">
            <a:solidFill>
              <a:srgbClr val="2A7F3F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2120153-6E22-77F0-C8A9-14351141D334}"/>
              </a:ext>
            </a:extLst>
          </p:cNvPr>
          <p:cNvSpPr/>
          <p:nvPr/>
        </p:nvSpPr>
        <p:spPr>
          <a:xfrm>
            <a:off x="4753473" y="293065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11–12</a:t>
            </a: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76CFBF6-D96A-1412-2814-195C511AAFD9}"/>
              </a:ext>
            </a:extLst>
          </p:cNvPr>
          <p:cNvSpPr/>
          <p:nvPr/>
        </p:nvSpPr>
        <p:spPr>
          <a:xfrm>
            <a:off x="5850753" y="29763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Training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B3BD7E2-509A-F8A3-F477-2FA778AA5DBC}"/>
              </a:ext>
            </a:extLst>
          </p:cNvPr>
          <p:cNvSpPr/>
          <p:nvPr/>
        </p:nvSpPr>
        <p:spPr>
          <a:xfrm>
            <a:off x="5850753" y="33147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BCE+Dice, lr=1e-4, 100 epochs → best IoU 0.74</a:t>
            </a:r>
            <a:endParaRPr lang="en-US" sz="10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B5CBE66-A404-FC33-CEB6-D78B4C83C4A9}"/>
              </a:ext>
            </a:extLst>
          </p:cNvPr>
          <p:cNvSpPr/>
          <p:nvPr/>
        </p:nvSpPr>
        <p:spPr>
          <a:xfrm>
            <a:off x="4753473" y="3899916"/>
            <a:ext cx="4206240" cy="822960"/>
          </a:xfrm>
          <a:prstGeom prst="rect">
            <a:avLst/>
          </a:prstGeom>
          <a:solidFill>
            <a:srgbClr val="FEF8EC"/>
          </a:solidFill>
          <a:ln w="12700">
            <a:solidFill>
              <a:srgbClr val="C07A00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92E83FA-D783-099F-3B2C-598BF6C2B42C}"/>
              </a:ext>
            </a:extLst>
          </p:cNvPr>
          <p:cNvSpPr/>
          <p:nvPr/>
        </p:nvSpPr>
        <p:spPr>
          <a:xfrm>
            <a:off x="4753473" y="3899916"/>
            <a:ext cx="1005840" cy="822960"/>
          </a:xfrm>
          <a:prstGeom prst="rect">
            <a:avLst/>
          </a:prstGeom>
          <a:solidFill>
            <a:srgbClr val="C07A00"/>
          </a:solidFill>
          <a:ln w="12700">
            <a:solidFill>
              <a:srgbClr val="C07A00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66FD5A8-EB3A-AC5A-86BE-77291CC25696}"/>
              </a:ext>
            </a:extLst>
          </p:cNvPr>
          <p:cNvSpPr/>
          <p:nvPr/>
        </p:nvSpPr>
        <p:spPr>
          <a:xfrm>
            <a:off x="4753473" y="389991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BA9E898-28C5-C85D-07E8-21C0273AA8DD}"/>
              </a:ext>
            </a:extLst>
          </p:cNvPr>
          <p:cNvSpPr/>
          <p:nvPr/>
        </p:nvSpPr>
        <p:spPr>
          <a:xfrm>
            <a:off x="5850753" y="394563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Visualization</a:t>
            </a:r>
            <a:endParaRPr lang="en-US" sz="1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B3AC402-B79E-463F-0013-BC5CCCF29305}"/>
              </a:ext>
            </a:extLst>
          </p:cNvPr>
          <p:cNvSpPr/>
          <p:nvPr/>
        </p:nvSpPr>
        <p:spPr>
          <a:xfrm>
            <a:off x="5850753" y="428396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10×3 grid: image | true mask | predicted mask</a:t>
            </a:r>
            <a:endParaRPr lang="en-US" sz="1000" dirty="0"/>
          </a:p>
        </p:txBody>
      </p:sp>
      <p:sp>
        <p:nvSpPr>
          <p:cNvPr id="46" name="Shape 1">
            <a:extLst>
              <a:ext uri="{FF2B5EF4-FFF2-40B4-BE49-F238E27FC236}">
                <a16:creationId xmlns:a16="http://schemas.microsoft.com/office/drawing/2014/main" id="{C1C5CB51-AD80-D92F-BACD-261612909004}"/>
              </a:ext>
            </a:extLst>
          </p:cNvPr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0A9396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22624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Results — IoU Scores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97280"/>
            <a:ext cx="26517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0.7381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217920" y="16916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IoU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2359152"/>
            <a:ext cx="26517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24048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217920" y="29535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(Img 08)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3621024"/>
            <a:ext cx="26517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36667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0.5607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217920" y="42153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(Img 02)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44622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Teal = Good (≥0.70)   🟨 Gold = Okay (0.50–0.69)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|  Abir Mahmood Rifat  •  Mohammad Safayet Hossain Alif  •  Md. Sahinul Islam Rizve  •  Md. Muammer Faisal</a:t>
            </a:r>
            <a:endParaRPr lang="en-US" sz="8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4A23C9C1-0B80-3B7E-A181-1BCD505129D2}"/>
              </a:ext>
            </a:extLst>
          </p:cNvPr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0A9396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AA56-BAC8-40B3-D13D-55EF48325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79BE8C-FCB5-F887-9366-9CE984987801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02A4C1-AEB8-4465-D3BB-8FAA87189DBD}"/>
              </a:ext>
            </a:extLst>
          </p:cNvPr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Takeaways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8DFCBC7-ECC5-9D10-96A5-FAAEFA42A3FC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B971273-2E81-49E7-6F04-D1FA8E1DF4AB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|  Abir Mahmood Rifat  •  Mohammad Safayet Hossain Alif  •  Md. Sahinul Islam Rizve  •  Md. Muammer Faisal</a:t>
            </a:r>
            <a:endParaRPr lang="en-US" sz="8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AE7719A6-8AF9-A010-8234-51387BC0EC95}"/>
              </a:ext>
            </a:extLst>
          </p:cNvPr>
          <p:cNvSpPr/>
          <p:nvPr/>
        </p:nvSpPr>
        <p:spPr>
          <a:xfrm>
            <a:off x="256032" y="1024128"/>
            <a:ext cx="4206240" cy="1719072"/>
          </a:xfrm>
          <a:prstGeom prst="rect">
            <a:avLst/>
          </a:prstGeom>
          <a:solidFill>
            <a:srgbClr val="E8F4F8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0301A040-B51B-6A69-29D3-802159295129}"/>
              </a:ext>
            </a:extLst>
          </p:cNvPr>
          <p:cNvSpPr/>
          <p:nvPr/>
        </p:nvSpPr>
        <p:spPr>
          <a:xfrm>
            <a:off x="256032" y="1024128"/>
            <a:ext cx="420624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A39A4252-3917-C9C8-43FC-9E9D1235B1C4}"/>
              </a:ext>
            </a:extLst>
          </p:cNvPr>
          <p:cNvSpPr/>
          <p:nvPr/>
        </p:nvSpPr>
        <p:spPr>
          <a:xfrm>
            <a:off x="420624" y="11521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Strong Result on Tiny Dataset</a:t>
            </a:r>
            <a:endParaRPr lang="en-US" sz="13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A05A2D5B-7700-765C-A211-7D9B785B611C}"/>
              </a:ext>
            </a:extLst>
          </p:cNvPr>
          <p:cNvSpPr/>
          <p:nvPr/>
        </p:nvSpPr>
        <p:spPr>
          <a:xfrm>
            <a:off x="420624" y="157276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IoU 0.74 from only 10 images — exceeds typical benchmarks for U-Net trained without transfer learning on &lt;50 samples. </a:t>
            </a:r>
            <a:endParaRPr lang="en-US" sz="11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665F794C-478E-0AB8-7C5A-B8D8556751E2}"/>
              </a:ext>
            </a:extLst>
          </p:cNvPr>
          <p:cNvSpPr/>
          <p:nvPr/>
        </p:nvSpPr>
        <p:spPr>
          <a:xfrm>
            <a:off x="4718304" y="1024128"/>
            <a:ext cx="4206240" cy="1719072"/>
          </a:xfrm>
          <a:prstGeom prst="rect">
            <a:avLst/>
          </a:prstGeom>
          <a:solidFill>
            <a:srgbClr val="FDF0F0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3EB14AC7-FF4D-31A0-92DC-78EE5987E2FA}"/>
              </a:ext>
            </a:extLst>
          </p:cNvPr>
          <p:cNvSpPr/>
          <p:nvPr/>
        </p:nvSpPr>
        <p:spPr>
          <a:xfrm>
            <a:off x="4718304" y="1024128"/>
            <a:ext cx="4206240" cy="7315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1A59C6A-1FF6-6841-575B-8CC877148F13}"/>
              </a:ext>
            </a:extLst>
          </p:cNvPr>
          <p:cNvSpPr/>
          <p:nvPr/>
        </p:nvSpPr>
        <p:spPr>
          <a:xfrm>
            <a:off x="4882896" y="11521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Augmentation Was Critical</a:t>
            </a:r>
            <a:endParaRPr lang="en-US" sz="13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13CD51C8-C2DC-42F6-4C95-3FC6D53972A4}"/>
              </a:ext>
            </a:extLst>
          </p:cNvPr>
          <p:cNvSpPr/>
          <p:nvPr/>
        </p:nvSpPr>
        <p:spPr>
          <a:xfrm>
            <a:off x="4882896" y="157276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10 → 40 samples via flips, rotations &amp; blur prevented overfitting and significantly improved generalization.</a:t>
            </a:r>
            <a:endParaRPr lang="en-US" sz="11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C21C2D0A-2576-3FB8-9671-75BC8D9A0A7D}"/>
              </a:ext>
            </a:extLst>
          </p:cNvPr>
          <p:cNvSpPr/>
          <p:nvPr/>
        </p:nvSpPr>
        <p:spPr>
          <a:xfrm>
            <a:off x="256032" y="2944368"/>
            <a:ext cx="4206240" cy="1719072"/>
          </a:xfrm>
          <a:prstGeom prst="rect">
            <a:avLst/>
          </a:prstGeom>
          <a:solidFill>
            <a:srgbClr val="EDF7F0"/>
          </a:solidFill>
          <a:ln w="12700">
            <a:solidFill>
              <a:srgbClr val="2A7F3F"/>
            </a:solidFill>
            <a:prstDash val="solid"/>
          </a:ln>
        </p:spPr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4F65702D-783C-2014-A8C9-666418471DD7}"/>
              </a:ext>
            </a:extLst>
          </p:cNvPr>
          <p:cNvSpPr/>
          <p:nvPr/>
        </p:nvSpPr>
        <p:spPr>
          <a:xfrm>
            <a:off x="256032" y="2944368"/>
            <a:ext cx="4206240" cy="73152"/>
          </a:xfrm>
          <a:prstGeom prst="rect">
            <a:avLst/>
          </a:prstGeom>
          <a:solidFill>
            <a:srgbClr val="2A7F3F"/>
          </a:solidFill>
          <a:ln w="12700">
            <a:solidFill>
              <a:srgbClr val="2A7F3F"/>
            </a:solidFill>
            <a:prstDash val="solid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0C7A2593-0F22-00EF-88EA-E2DDC6C0F3CD}"/>
              </a:ext>
            </a:extLst>
          </p:cNvPr>
          <p:cNvSpPr/>
          <p:nvPr/>
        </p:nvSpPr>
        <p:spPr>
          <a:xfrm>
            <a:off x="420624" y="3072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Combined Loss &gt; BCE Alone</a:t>
            </a:r>
            <a:endParaRPr lang="en-US" sz="13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69E90E33-B5CE-CBD6-2E5A-05CC8E3E0C8B}"/>
              </a:ext>
            </a:extLst>
          </p:cNvPr>
          <p:cNvSpPr/>
          <p:nvPr/>
        </p:nvSpPr>
        <p:spPr>
          <a:xfrm>
            <a:off x="420624" y="349300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+ Dice loss handled class imbalance between nucleus foreground and background, producing more precise boundary delineation.</a:t>
            </a:r>
            <a:endParaRPr lang="en-US" sz="11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D634B0CF-9202-D024-8FE7-46A1FB516E4B}"/>
              </a:ext>
            </a:extLst>
          </p:cNvPr>
          <p:cNvSpPr/>
          <p:nvPr/>
        </p:nvSpPr>
        <p:spPr>
          <a:xfrm>
            <a:off x="4718304" y="2944368"/>
            <a:ext cx="4206240" cy="1719072"/>
          </a:xfrm>
          <a:prstGeom prst="rect">
            <a:avLst/>
          </a:prstGeom>
          <a:solidFill>
            <a:srgbClr val="FEF8EC"/>
          </a:solidFill>
          <a:ln w="12700">
            <a:solidFill>
              <a:srgbClr val="C07A00"/>
            </a:solidFill>
            <a:prstDash val="solid"/>
          </a:ln>
        </p:spPr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FCA4A262-7B8D-B2B4-F64D-D7A92A5918BB}"/>
              </a:ext>
            </a:extLst>
          </p:cNvPr>
          <p:cNvSpPr/>
          <p:nvPr/>
        </p:nvSpPr>
        <p:spPr>
          <a:xfrm>
            <a:off x="4718304" y="2944368"/>
            <a:ext cx="4206240" cy="73152"/>
          </a:xfrm>
          <a:prstGeom prst="rect">
            <a:avLst/>
          </a:prstGeom>
          <a:solidFill>
            <a:srgbClr val="C07A00"/>
          </a:solidFill>
          <a:ln w="12700">
            <a:solidFill>
              <a:srgbClr val="C07A00"/>
            </a:solidFill>
            <a:prstDash val="solid"/>
          </a:ln>
        </p:spPr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EFB44F08-153E-23D2-367C-4E7A0D57CBC1}"/>
              </a:ext>
            </a:extLst>
          </p:cNvPr>
          <p:cNvSpPr/>
          <p:nvPr/>
        </p:nvSpPr>
        <p:spPr>
          <a:xfrm>
            <a:off x="4882896" y="3072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Challenging Cases Remain</a:t>
            </a:r>
            <a:endParaRPr lang="en-US" sz="13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09952B4C-70FD-DCC3-2BF5-48D9AD12AB5B}"/>
              </a:ext>
            </a:extLst>
          </p:cNvPr>
          <p:cNvSpPr/>
          <p:nvPr/>
        </p:nvSpPr>
        <p:spPr>
          <a:xfrm>
            <a:off x="4882896" y="349300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02 (IoU = 0.56) shows sensitivity to extreme background heterogeneity — out-of-distribution staining conditions.</a:t>
            </a:r>
            <a:endParaRPr lang="en-US" sz="1100" dirty="0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2D1359AB-F0F3-EC4F-D594-2D1E99A092D4}"/>
              </a:ext>
            </a:extLst>
          </p:cNvPr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0A9396"/>
          </a:solidFill>
          <a:ln w="1270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4287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images — far below what deep learning needs for robust generalization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pretrained backbone — all features learned from scratch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 resolution — fine boundary detail is lost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only — cannot count individual nucleus instances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29768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full 670-image Kaggle dataset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with ResNet-50 / </a:t>
            </a:r>
            <a:r>
              <a:rPr lang="en-US" sz="11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encoder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 (TTA) for stable predictions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 with post-processing for cell counting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input (256×256 or 512×512)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 |  Abir Mahmood Rifat  •  Mohammad Safayet Hossain Alif  •  Md. Sahinul Islam Rizve  •  Md. Muammer Faisal</a:t>
            </a:r>
            <a:endParaRPr lang="en-US" sz="800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5D9C95BA-7EDB-68BA-1E03-1E79EC0F474D}"/>
              </a:ext>
            </a:extLst>
          </p:cNvPr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0A9396"/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DA9F9503-8AE9-04F3-863E-5F292AEC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0">
            <a:extLst>
              <a:ext uri="{FF2B5EF4-FFF2-40B4-BE49-F238E27FC236}">
                <a16:creationId xmlns:a16="http://schemas.microsoft.com/office/drawing/2014/main" id="{0AF2A2DF-1C78-C4A0-3B22-4BA095C9CAC9}"/>
              </a:ext>
            </a:extLst>
          </p:cNvPr>
          <p:cNvSpPr txBox="1"/>
          <p:nvPr/>
        </p:nvSpPr>
        <p:spPr>
          <a:xfrm>
            <a:off x="2640468" y="2324817"/>
            <a:ext cx="3863064" cy="64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2"/>
              </a:lnSpc>
            </a:pPr>
            <a:r>
              <a:rPr lang="en-US" sz="3499" dirty="0"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  <a:endParaRPr sz="900" dirty="0"/>
          </a:p>
        </p:txBody>
      </p:sp>
      <p:sp>
        <p:nvSpPr>
          <p:cNvPr id="579" name="Google Shape;579;p30">
            <a:extLst>
              <a:ext uri="{FF2B5EF4-FFF2-40B4-BE49-F238E27FC236}">
                <a16:creationId xmlns:a16="http://schemas.microsoft.com/office/drawing/2014/main" id="{1D37A2F9-7867-8138-93A3-C450AA54FAD8}"/>
              </a:ext>
            </a:extLst>
          </p:cNvPr>
          <p:cNvSpPr/>
          <p:nvPr/>
        </p:nvSpPr>
        <p:spPr>
          <a:xfrm rot="-388816">
            <a:off x="5818305" y="2453951"/>
            <a:ext cx="5516457" cy="4663324"/>
          </a:xfrm>
          <a:custGeom>
            <a:avLst/>
            <a:gdLst/>
            <a:ahLst/>
            <a:cxnLst/>
            <a:rect l="l" t="t" r="r" b="b"/>
            <a:pathLst>
              <a:path w="8521275" h="7203440" extrusionOk="0">
                <a:moveTo>
                  <a:pt x="4585849" y="1123950"/>
                </a:moveTo>
                <a:cubicBezTo>
                  <a:pt x="4007463" y="1784350"/>
                  <a:pt x="4076474" y="2346960"/>
                  <a:pt x="3424147" y="2646680"/>
                </a:cubicBezTo>
                <a:cubicBezTo>
                  <a:pt x="2109632" y="3252470"/>
                  <a:pt x="762255" y="2674620"/>
                  <a:pt x="348183" y="3713480"/>
                </a:cubicBezTo>
                <a:cubicBezTo>
                  <a:pt x="0" y="4777740"/>
                  <a:pt x="1010369" y="5806440"/>
                  <a:pt x="3284479" y="6450330"/>
                </a:cubicBezTo>
                <a:cubicBezTo>
                  <a:pt x="5936512" y="7203440"/>
                  <a:pt x="8521275" y="5153660"/>
                  <a:pt x="8008516" y="3628390"/>
                </a:cubicBezTo>
                <a:cubicBezTo>
                  <a:pt x="7482710" y="2364740"/>
                  <a:pt x="8326965" y="1811020"/>
                  <a:pt x="7845845" y="1123950"/>
                </a:cubicBezTo>
                <a:cubicBezTo>
                  <a:pt x="6948688" y="0"/>
                  <a:pt x="5205314" y="415290"/>
                  <a:pt x="4585849" y="112395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endParaRPr sz="900"/>
          </a:p>
        </p:txBody>
      </p:sp>
      <p:sp>
        <p:nvSpPr>
          <p:cNvPr id="580" name="Google Shape;580;p30">
            <a:extLst>
              <a:ext uri="{FF2B5EF4-FFF2-40B4-BE49-F238E27FC236}">
                <a16:creationId xmlns:a16="http://schemas.microsoft.com/office/drawing/2014/main" id="{E76B084C-D611-2C20-AEF7-DECEFCDC792B}"/>
              </a:ext>
            </a:extLst>
          </p:cNvPr>
          <p:cNvSpPr/>
          <p:nvPr/>
        </p:nvSpPr>
        <p:spPr>
          <a:xfrm rot="10338434">
            <a:off x="-2523928" y="-2038773"/>
            <a:ext cx="6220659" cy="5258620"/>
          </a:xfrm>
          <a:custGeom>
            <a:avLst/>
            <a:gdLst/>
            <a:ahLst/>
            <a:cxnLst/>
            <a:rect l="l" t="t" r="r" b="b"/>
            <a:pathLst>
              <a:path w="8521275" h="7203440" extrusionOk="0">
                <a:moveTo>
                  <a:pt x="4585849" y="1123950"/>
                </a:moveTo>
                <a:cubicBezTo>
                  <a:pt x="4007463" y="1784350"/>
                  <a:pt x="4076474" y="2346960"/>
                  <a:pt x="3424147" y="2646680"/>
                </a:cubicBezTo>
                <a:cubicBezTo>
                  <a:pt x="2109632" y="3252470"/>
                  <a:pt x="762255" y="2674620"/>
                  <a:pt x="348183" y="3713480"/>
                </a:cubicBezTo>
                <a:cubicBezTo>
                  <a:pt x="0" y="4777740"/>
                  <a:pt x="1010369" y="5806440"/>
                  <a:pt x="3284479" y="6450330"/>
                </a:cubicBezTo>
                <a:cubicBezTo>
                  <a:pt x="5936512" y="7203440"/>
                  <a:pt x="8521275" y="5153660"/>
                  <a:pt x="8008516" y="3628390"/>
                </a:cubicBezTo>
                <a:cubicBezTo>
                  <a:pt x="7482710" y="2364740"/>
                  <a:pt x="8326965" y="1811020"/>
                  <a:pt x="7845845" y="1123950"/>
                </a:cubicBezTo>
                <a:cubicBezTo>
                  <a:pt x="6948688" y="0"/>
                  <a:pt x="5205314" y="415290"/>
                  <a:pt x="4585849" y="112395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endParaRPr sz="900"/>
          </a:p>
        </p:txBody>
      </p:sp>
      <p:pic>
        <p:nvPicPr>
          <p:cNvPr id="581" name="Google Shape;581;p30">
            <a:extLst>
              <a:ext uri="{FF2B5EF4-FFF2-40B4-BE49-F238E27FC236}">
                <a16:creationId xmlns:a16="http://schemas.microsoft.com/office/drawing/2014/main" id="{C53D2368-8CC5-C549-3B34-BC55EC01977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408" y="1130007"/>
            <a:ext cx="730438" cy="317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30">
            <a:extLst>
              <a:ext uri="{FF2B5EF4-FFF2-40B4-BE49-F238E27FC236}">
                <a16:creationId xmlns:a16="http://schemas.microsoft.com/office/drawing/2014/main" id="{C4A41560-D9FE-283B-9CDA-A5C9661697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1883" y="3655163"/>
            <a:ext cx="730438" cy="317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4041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727</Words>
  <Application>Microsoft Office PowerPoint</Application>
  <PresentationFormat>On-screen Show (16:9)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Archivo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Nuclei Segmentation — CSE445 Group 2</dc:title>
  <dc:subject>PptxGenJS Presentation</dc:subject>
  <dc:creator>PptxGenJS</dc:creator>
  <cp:lastModifiedBy>Sahinul Islam</cp:lastModifiedBy>
  <cp:revision>5</cp:revision>
  <dcterms:created xsi:type="dcterms:W3CDTF">2026-04-25T20:23:03Z</dcterms:created>
  <dcterms:modified xsi:type="dcterms:W3CDTF">2026-04-25T21:58:40Z</dcterms:modified>
</cp:coreProperties>
</file>